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75" d="100"/>
          <a:sy n="75" d="100"/>
        </p:scale>
        <p:origin x="747" y="8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E3465-4FCD-E5F8-0695-5CC22187B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B66481-EAC0-2944-5078-7786CE958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BEE5C-ECD7-BDDF-C2E4-80C664A6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C7AD-65EF-4AD6-88AC-3CA338D040EC}" type="datetimeFigureOut">
              <a:rPr lang="en-CA" smtClean="0"/>
              <a:t>2026-03-01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05644-90F8-F39C-09D8-3A49EDE8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B2717-74A9-BE0E-0091-C11C5D29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952F-2776-423B-85B7-33823B55D0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110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4A4C3-62D4-C71D-7CD6-3E24EABE2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D56E3-5ABE-D144-ACEC-640C19A4C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01EEC-E159-383B-23A3-48F636FF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C7AD-65EF-4AD6-88AC-3CA338D040EC}" type="datetimeFigureOut">
              <a:rPr lang="en-CA" smtClean="0"/>
              <a:t>2026-03-01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115F-47F6-FF1C-1F3C-8070C4A67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E29FF-18D1-A22D-F3D6-ABC0F6C62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952F-2776-423B-85B7-33823B55D0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003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5169-EE7A-B1A7-06B3-9EF7BF108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4C0B5-3785-99C2-4D4E-2207006F4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456A3-2A4B-96E5-9099-18AB4C620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C7AD-65EF-4AD6-88AC-3CA338D040EC}" type="datetimeFigureOut">
              <a:rPr lang="en-CA" smtClean="0"/>
              <a:t>2026-03-01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84599-1135-8EED-DC65-3112A31B5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4FA59-AA97-F052-56C6-E09668B7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952F-2776-423B-85B7-33823B55D0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2884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BBE5-375E-5D14-7218-5E2ABADB6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FD864-6956-5D4F-6C0E-F2C1CAFEDF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9D384C-C718-482E-C859-EC513B431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3CC2E-2DB0-D69E-D4E7-4EDC959CF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C7AD-65EF-4AD6-88AC-3CA338D040EC}" type="datetimeFigureOut">
              <a:rPr lang="en-CA" smtClean="0"/>
              <a:t>2026-03-01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E55C2-FE2F-58F8-D07B-2ADC3218E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4E544-0E50-3B05-B7BB-B7853E3B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952F-2776-423B-85B7-33823B55D0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2080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F1BD-6AD3-34AB-1414-5BB03E63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B0604-C49F-2CAE-EE6E-4B64CB521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8F9DA-CE01-282D-094B-ED5C9A8EE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303A29-AF79-9934-560B-BA0DC969D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B2BDF8-EDC4-5053-4B2E-809D5CC42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6CA608-CE31-8E37-FFC1-70E0BDD84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C7AD-65EF-4AD6-88AC-3CA338D040EC}" type="datetimeFigureOut">
              <a:rPr lang="en-CA" smtClean="0"/>
              <a:t>2026-03-01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6CDED0-51B2-ADD1-4914-3928B034F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F3CC1-829D-F4AD-4EC4-07590A520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952F-2776-423B-85B7-33823B55D0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980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5D388-3F52-D78B-45BA-65AB03AF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581D28-E63E-7AFB-3552-23546D3D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C7AD-65EF-4AD6-88AC-3CA338D040EC}" type="datetimeFigureOut">
              <a:rPr lang="en-CA" smtClean="0"/>
              <a:t>2026-03-01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FFCEE-5A0D-14DD-BDB2-D4D1890AB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A4A22-3D0D-D529-9234-E5A108A4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952F-2776-423B-85B7-33823B55D0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399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02304-C215-0F0E-5234-FED5BF40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C7AD-65EF-4AD6-88AC-3CA338D040EC}" type="datetimeFigureOut">
              <a:rPr lang="en-CA" smtClean="0"/>
              <a:t>2026-03-01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19312-D36E-6900-D846-A4547366C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4D64B-1AD5-1F1D-F628-1579DFAE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952F-2776-423B-85B7-33823B55D0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669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D55CA-BFDF-817B-3908-9FE5ED2B4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28D5A-9377-1643-02E9-6E8284E50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4A500-4AC9-DCB3-6BFD-B1B589581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4C81-C1DF-18DC-D0C8-3F1532FF2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C7AD-65EF-4AD6-88AC-3CA338D040EC}" type="datetimeFigureOut">
              <a:rPr lang="en-CA" smtClean="0"/>
              <a:t>2026-03-01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2FEFB-6EBC-7DB5-CCCA-5A2FC4564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09015-1219-A734-D098-F5EFF0E17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952F-2776-423B-85B7-33823B55D0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4396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5114-48D9-F8DC-9041-B8C086540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DB173F-B8B4-6987-9A18-362C1339B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20E25-2322-A4C0-C48F-11AE6043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3B0C0-10F0-AA1A-9F73-DCACAA4F3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C7AD-65EF-4AD6-88AC-3CA338D040EC}" type="datetimeFigureOut">
              <a:rPr lang="en-CA" smtClean="0"/>
              <a:t>2026-03-01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1AF55-68A8-AF69-F080-6878274E0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38AD8-3D71-C65A-4044-EA058573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952F-2776-423B-85B7-33823B55D0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261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EA812-32B8-2E70-6C40-4F3C3BA63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A2EB2-7606-6281-79EC-1CBB3B531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07D4C-819C-9142-2562-F30386D3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C7AD-65EF-4AD6-88AC-3CA338D040EC}" type="datetimeFigureOut">
              <a:rPr lang="en-CA" smtClean="0"/>
              <a:t>2026-03-01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6E0A8-56F8-7547-696E-3FEAF1393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D1D62-892C-E45F-EDC5-CDD94FF42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952F-2776-423B-85B7-33823B55D0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8788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A60625-DB14-D02F-2C82-0A242EF55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0DD90-443B-36DE-503D-638B70C62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48735-A013-563A-3F60-76336C6D6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C7AD-65EF-4AD6-88AC-3CA338D040EC}" type="datetimeFigureOut">
              <a:rPr lang="en-CA" smtClean="0"/>
              <a:t>2026-03-01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5678F-7EB6-6F7F-8101-45BE2A2CD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31E11-D1FB-947A-8808-98312796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952F-2776-423B-85B7-33823B55D0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442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AC191E-F5A2-6703-21C2-C1237428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A260E-509B-20DE-199C-6FF0086FD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D1EF8-72B7-CF56-F5F6-245359162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1C7AD-65EF-4AD6-88AC-3CA338D040EC}" type="datetimeFigureOut">
              <a:rPr lang="en-CA" smtClean="0"/>
              <a:t>2026-03-01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5AF65-DE12-8C84-281A-AC2BC0F97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4FC75-0837-292A-C982-756CB3A15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64952F-2776-423B-85B7-33823B55D0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3583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D0D6D3E-D7F9-4591-9CA9-DDF4DB1F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A5893-76F9-94AB-3E25-46B0F24D9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849" y="602673"/>
            <a:ext cx="7929483" cy="2866653"/>
          </a:xfrm>
        </p:spPr>
        <p:txBody>
          <a:bodyPr anchor="t">
            <a:normAutofit/>
          </a:bodyPr>
          <a:lstStyle/>
          <a:p>
            <a:pPr algn="l"/>
            <a:r>
              <a:rPr lang="en-US" b="1" dirty="0"/>
              <a:t>Airport Authority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Data Analysis</a:t>
            </a:r>
            <a:endParaRPr lang="en-CA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3B4DA-B824-1AC0-704A-035F3E493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766" y="4652649"/>
            <a:ext cx="7052998" cy="1192815"/>
          </a:xfrm>
        </p:spPr>
        <p:txBody>
          <a:bodyPr anchor="b">
            <a:normAutofit/>
          </a:bodyPr>
          <a:lstStyle/>
          <a:p>
            <a:pPr algn="l"/>
            <a:r>
              <a:rPr lang="en-US" b="1" dirty="0"/>
              <a:t>Presented</a:t>
            </a:r>
            <a:r>
              <a:rPr lang="en-US" dirty="0"/>
              <a:t> </a:t>
            </a:r>
            <a:r>
              <a:rPr lang="en-US" b="1" dirty="0"/>
              <a:t>by:</a:t>
            </a:r>
            <a:r>
              <a:rPr lang="en-US" dirty="0"/>
              <a:t> Muluwerk Derebe</a:t>
            </a:r>
          </a:p>
          <a:p>
            <a:pPr algn="l"/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4068664" cy="6858000"/>
          </a:xfrm>
          <a:prstGeom prst="rect">
            <a:avLst/>
          </a:prstGeom>
          <a:gradFill>
            <a:gsLst>
              <a:gs pos="26000">
                <a:srgbClr val="000000"/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3611463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rgbClr val="000000">
                  <a:alpha val="52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30721" y="-107390"/>
            <a:ext cx="3853890" cy="4068665"/>
          </a:xfrm>
          <a:prstGeom prst="rect">
            <a:avLst/>
          </a:prstGeom>
          <a:gradFill>
            <a:gsLst>
              <a:gs pos="0">
                <a:srgbClr val="000000">
                  <a:alpha val="34000"/>
                </a:srgbClr>
              </a:gs>
              <a:gs pos="96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C8707F-4FE8-9D53-E28A-AF53BB6C2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>
          <a:xfrm>
            <a:off x="2854038" y="-2083955"/>
            <a:ext cx="8292979" cy="9372600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91936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C33F2-7093-462F-C5D9-6664000CA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CA" sz="5400" b="1" dirty="0"/>
              <a:t>Total number of flight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8FC831-9BE4-E8F0-9520-3BF1F508E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129" y="3514862"/>
            <a:ext cx="3474721" cy="108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b="1" dirty="0"/>
              <a:t>M</a:t>
            </a:r>
            <a:r>
              <a:rPr lang="en-US" sz="6600" dirty="0"/>
              <a:t>illions</a:t>
            </a:r>
          </a:p>
        </p:txBody>
      </p:sp>
      <p:pic>
        <p:nvPicPr>
          <p:cNvPr id="5" name="Content Placeholder 4" descr="The image shows an empty, airport waiting lounge with rows of chairs and large windows reflecting a clear blue sky and clouds.&#10;&#10;AI-generated content may be incorrect.">
            <a:extLst>
              <a:ext uri="{FF2B5EF4-FFF2-40B4-BE49-F238E27FC236}">
                <a16:creationId xmlns:a16="http://schemas.microsoft.com/office/drawing/2014/main" id="{94FA848A-0AB7-D01A-EFCF-AC8096553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23" r="13224" b="-1"/>
          <a:stretch>
            <a:fillRect/>
          </a:stretch>
        </p:blipFill>
        <p:spPr>
          <a:xfrm>
            <a:off x="5008682" y="10"/>
            <a:ext cx="718179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FCDA1F-29F4-7050-A340-46D8A9858040}"/>
              </a:ext>
            </a:extLst>
          </p:cNvPr>
          <p:cNvSpPr txBox="1"/>
          <p:nvPr/>
        </p:nvSpPr>
        <p:spPr>
          <a:xfrm>
            <a:off x="834930" y="4510504"/>
            <a:ext cx="32798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dirty="0"/>
              <a:t>in total</a:t>
            </a:r>
          </a:p>
          <a:p>
            <a:r>
              <a:rPr lang="en-CA" sz="4400" dirty="0"/>
              <a:t>&amp; out of that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C19E4-3458-8383-6D53-9993498B0A31}"/>
              </a:ext>
            </a:extLst>
          </p:cNvPr>
          <p:cNvSpPr txBox="1"/>
          <p:nvPr/>
        </p:nvSpPr>
        <p:spPr>
          <a:xfrm>
            <a:off x="2876967" y="4159614"/>
            <a:ext cx="15350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solidFill>
                  <a:schemeClr val="accent2"/>
                </a:solidFill>
              </a:rPr>
              <a:t>Flights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9621C3-67F4-425A-A6F2-7FAF0131C626}"/>
              </a:ext>
            </a:extLst>
          </p:cNvPr>
          <p:cNvSpPr txBox="1"/>
          <p:nvPr/>
        </p:nvSpPr>
        <p:spPr>
          <a:xfrm>
            <a:off x="-1525" y="2743811"/>
            <a:ext cx="1535082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300" b="1" dirty="0"/>
              <a:t>7</a:t>
            </a:r>
            <a:endParaRPr lang="en-CA" sz="143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56DDE3-8016-0C2D-B1BB-4470A83353B2}"/>
              </a:ext>
            </a:extLst>
          </p:cNvPr>
          <p:cNvSpPr txBox="1"/>
          <p:nvPr/>
        </p:nvSpPr>
        <p:spPr>
          <a:xfrm>
            <a:off x="266422" y="6115869"/>
            <a:ext cx="4475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117K  </a:t>
            </a:r>
            <a:r>
              <a:rPr lang="en-C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Canceled </a:t>
            </a:r>
            <a:r>
              <a:rPr lang="en-CA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Flights</a:t>
            </a:r>
          </a:p>
        </p:txBody>
      </p:sp>
    </p:spTree>
    <p:extLst>
      <p:ext uri="{BB962C8B-B14F-4D97-AF65-F5344CB8AC3E}">
        <p14:creationId xmlns:p14="http://schemas.microsoft.com/office/powerpoint/2010/main" val="222918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D9189B-CDB1-25F7-BEB6-D0F87576F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208A56F-809F-DB74-1D2D-3470DAF9A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7FAD68-7389-DAC5-B32B-A7C3BB71C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7" r="2977"/>
          <a:stretch/>
        </p:blipFill>
        <p:spPr>
          <a:xfrm>
            <a:off x="2522356" y="-6429"/>
            <a:ext cx="9669642" cy="685799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8E07EF4-87A2-B5B0-11CE-1FED7ECFE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F2DF6B-0C53-A5BE-0391-B39423217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754" y="404511"/>
            <a:ext cx="4544291" cy="856733"/>
          </a:xfrm>
        </p:spPr>
        <p:txBody>
          <a:bodyPr>
            <a:normAutofit/>
          </a:bodyPr>
          <a:lstStyle/>
          <a:p>
            <a:r>
              <a:rPr lang="en-CA" sz="4000" b="1" u="sng" dirty="0"/>
              <a:t>Total of flight delays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BD8C433-E65C-9CC0-3EEF-F16B50849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090" y="3542114"/>
            <a:ext cx="3822189" cy="2747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6000" dirty="0">
                <a:solidFill>
                  <a:srgbClr val="C00000"/>
                </a:solidFill>
              </a:rPr>
              <a:t> 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4400" dirty="0">
                <a:solidFill>
                  <a:srgbClr val="C00000"/>
                </a:solidFill>
              </a:rPr>
              <a:t>R</a:t>
            </a:r>
            <a:r>
              <a:rPr lang="en-US" dirty="0"/>
              <a:t>easons:</a:t>
            </a:r>
          </a:p>
          <a:p>
            <a:pPr marL="0" indent="0">
              <a:buNone/>
            </a:pPr>
            <a:r>
              <a:rPr lang="en-US" dirty="0"/>
              <a:t>1. Security		</a:t>
            </a:r>
            <a:r>
              <a:rPr lang="en-US" b="1" dirty="0">
                <a:solidFill>
                  <a:schemeClr val="accent2"/>
                </a:solidFill>
              </a:rPr>
              <a:t>127K</a:t>
            </a:r>
          </a:p>
          <a:p>
            <a:pPr marL="0" indent="0">
              <a:buNone/>
            </a:pPr>
            <a:r>
              <a:rPr lang="en-US" dirty="0"/>
              <a:t>2. Carrier		</a:t>
            </a:r>
            <a:r>
              <a:rPr lang="en-US" b="1" dirty="0">
                <a:solidFill>
                  <a:schemeClr val="accent2"/>
                </a:solidFill>
              </a:rPr>
              <a:t>26M</a:t>
            </a:r>
          </a:p>
          <a:p>
            <a:pPr marL="0" indent="0">
              <a:buNone/>
            </a:pPr>
            <a:r>
              <a:rPr lang="en-US" dirty="0"/>
              <a:t>3. Late-Aircraft	</a:t>
            </a:r>
            <a:r>
              <a:rPr lang="en-US" b="1" dirty="0">
                <a:solidFill>
                  <a:schemeClr val="accent2"/>
                </a:solidFill>
              </a:rPr>
              <a:t>35M</a:t>
            </a:r>
          </a:p>
          <a:p>
            <a:pPr marL="0" indent="0">
              <a:buNone/>
            </a:pPr>
            <a:r>
              <a:rPr lang="en-US" dirty="0"/>
              <a:t>4. NAS			</a:t>
            </a:r>
            <a:r>
              <a:rPr lang="en-US" b="1" dirty="0">
                <a:solidFill>
                  <a:schemeClr val="accent2"/>
                </a:solidFill>
              </a:rPr>
              <a:t>21M</a:t>
            </a:r>
          </a:p>
          <a:p>
            <a:pPr marL="0" indent="0">
              <a:buNone/>
            </a:pPr>
            <a:r>
              <a:rPr lang="en-US" dirty="0"/>
              <a:t>5. Weather		</a:t>
            </a:r>
            <a:r>
              <a:rPr lang="en-US" b="1" dirty="0">
                <a:solidFill>
                  <a:schemeClr val="accent2"/>
                </a:solidFill>
              </a:rPr>
              <a:t>5M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9D54E-B163-A53F-263F-F084BECA9473}"/>
              </a:ext>
            </a:extLst>
          </p:cNvPr>
          <p:cNvSpPr txBox="1"/>
          <p:nvPr/>
        </p:nvSpPr>
        <p:spPr>
          <a:xfrm>
            <a:off x="1110650" y="1104322"/>
            <a:ext cx="1153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u="sng" dirty="0"/>
              <a:t>Arrivals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425467-649B-12C3-6719-5D9A047F97CC}"/>
              </a:ext>
            </a:extLst>
          </p:cNvPr>
          <p:cNvSpPr txBox="1"/>
          <p:nvPr/>
        </p:nvSpPr>
        <p:spPr>
          <a:xfrm>
            <a:off x="2264453" y="1104322"/>
            <a:ext cx="1407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sng" strike="noStrike" baseline="0" dirty="0">
                <a:solidFill>
                  <a:srgbClr val="212529"/>
                </a:solidFill>
                <a:latin typeface="Roboto" panose="02000000000000000000" pitchFamily="2" charset="0"/>
              </a:rPr>
              <a:t>Departures</a:t>
            </a:r>
            <a:endParaRPr lang="en-CA" b="1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7AEB6F-95C4-813B-482E-A880C711B6E6}"/>
              </a:ext>
            </a:extLst>
          </p:cNvPr>
          <p:cNvSpPr txBox="1"/>
          <p:nvPr/>
        </p:nvSpPr>
        <p:spPr>
          <a:xfrm>
            <a:off x="1963118" y="999701"/>
            <a:ext cx="3013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dirty="0"/>
              <a:t>&amp;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5915A-0B8D-E93D-35B5-2509AD78718C}"/>
              </a:ext>
            </a:extLst>
          </p:cNvPr>
          <p:cNvSpPr txBox="1"/>
          <p:nvPr/>
        </p:nvSpPr>
        <p:spPr>
          <a:xfrm>
            <a:off x="5334" y="2378629"/>
            <a:ext cx="2078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 dirty="0"/>
              <a:t>Departure delays</a:t>
            </a:r>
            <a:r>
              <a:rPr lang="en-CA" sz="1800" dirty="0"/>
              <a:t>: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694AD8-A44F-AAEC-1261-FDCAFF9EAC7A}"/>
              </a:ext>
            </a:extLst>
          </p:cNvPr>
          <p:cNvSpPr txBox="1"/>
          <p:nvPr/>
        </p:nvSpPr>
        <p:spPr>
          <a:xfrm>
            <a:off x="2643717" y="2378629"/>
            <a:ext cx="2064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 dirty="0"/>
              <a:t>Arrival </a:t>
            </a:r>
            <a:r>
              <a:rPr lang="en-CA" b="1" dirty="0"/>
              <a:t>delays</a:t>
            </a:r>
            <a:r>
              <a:rPr lang="en-CA" dirty="0"/>
              <a:t>:</a:t>
            </a:r>
            <a:endParaRPr lang="en-CA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730C18-AE21-B791-8A8D-69F6FFD43586}"/>
              </a:ext>
            </a:extLst>
          </p:cNvPr>
          <p:cNvSpPr txBox="1"/>
          <p:nvPr/>
        </p:nvSpPr>
        <p:spPr>
          <a:xfrm>
            <a:off x="462603" y="2685882"/>
            <a:ext cx="1204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solidFill>
                  <a:schemeClr val="accent2"/>
                </a:solidFill>
              </a:rPr>
              <a:t>2 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1DE72A-4211-43F6-E2BC-FEA74ED0B75F}"/>
              </a:ext>
            </a:extLst>
          </p:cNvPr>
          <p:cNvSpPr txBox="1"/>
          <p:nvPr/>
        </p:nvSpPr>
        <p:spPr>
          <a:xfrm>
            <a:off x="2996866" y="2662590"/>
            <a:ext cx="8555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chemeClr val="accent2"/>
                </a:solidFill>
              </a:rPr>
              <a:t> </a:t>
            </a:r>
            <a:r>
              <a:rPr lang="en-CA" sz="2800" b="1" dirty="0">
                <a:solidFill>
                  <a:schemeClr val="accent2"/>
                </a:solidFill>
              </a:rPr>
              <a:t>3 M</a:t>
            </a:r>
          </a:p>
        </p:txBody>
      </p:sp>
    </p:spTree>
    <p:extLst>
      <p:ext uri="{BB962C8B-B14F-4D97-AF65-F5344CB8AC3E}">
        <p14:creationId xmlns:p14="http://schemas.microsoft.com/office/powerpoint/2010/main" val="1299548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7265D-6A84-C39F-78DB-3EE6F7BFF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CA" sz="4000" b="1"/>
              <a:t>Ground Processing Time (GPT)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H&amp;C Processing Time&#10;&#10;AI-generated content may be incorrect.">
            <a:extLst>
              <a:ext uri="{FF2B5EF4-FFF2-40B4-BE49-F238E27FC236}">
                <a16:creationId xmlns:a16="http://schemas.microsoft.com/office/drawing/2014/main" id="{3004BE05-FCEC-2053-7C2C-71AEE0DEF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93" r="1" b="1"/>
          <a:stretch>
            <a:fillRect/>
          </a:stretch>
        </p:blipFill>
        <p:spPr>
          <a:xfrm>
            <a:off x="0" y="2103805"/>
            <a:ext cx="6618652" cy="4560231"/>
          </a:xfrm>
          <a:prstGeom prst="rect">
            <a:avLst/>
          </a:prstGeom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DAE25E0D-7EE1-368B-EE15-24E1E6C53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2038" y="2478088"/>
            <a:ext cx="3871912" cy="369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248M</a:t>
            </a:r>
            <a:r>
              <a:rPr lang="en-US" sz="6600" b="1" dirty="0"/>
              <a:t> M</a:t>
            </a:r>
            <a:r>
              <a:rPr lang="en-US" sz="6600" dirty="0"/>
              <a:t>inutes in Total</a:t>
            </a:r>
          </a:p>
        </p:txBody>
      </p:sp>
    </p:spTree>
    <p:extLst>
      <p:ext uri="{BB962C8B-B14F-4D97-AF65-F5344CB8AC3E}">
        <p14:creationId xmlns:p14="http://schemas.microsoft.com/office/powerpoint/2010/main" val="2837992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The image shows three people interacting with a traveler's check machine in an airport terminal, possibly waiting for their turn to use the service.&#10;&#10;AI-generated content may be incorrect.">
            <a:extLst>
              <a:ext uri="{FF2B5EF4-FFF2-40B4-BE49-F238E27FC236}">
                <a16:creationId xmlns:a16="http://schemas.microsoft.com/office/drawing/2014/main" id="{E6A9284C-DD81-37D6-2F0F-168E94728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4" r="-1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1E23D-6858-DD19-C900-DAEECB9FD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365125"/>
            <a:ext cx="3822189" cy="1899912"/>
          </a:xfrm>
        </p:spPr>
        <p:txBody>
          <a:bodyPr>
            <a:normAutofit/>
          </a:bodyPr>
          <a:lstStyle/>
          <a:p>
            <a:pPr algn="ctr"/>
            <a:r>
              <a:rPr lang="en-CA" sz="8000" b="1" u="sng" dirty="0"/>
              <a:t>P</a:t>
            </a:r>
            <a:r>
              <a:rPr lang="en-CA" sz="6000" b="1" dirty="0"/>
              <a:t>ass</a:t>
            </a:r>
            <a:r>
              <a:rPr lang="en-CA" sz="6000" b="1" u="sng" dirty="0"/>
              <a:t>enger</a:t>
            </a:r>
            <a:r>
              <a:rPr lang="en-CA" sz="4000" b="1" dirty="0"/>
              <a:t> </a:t>
            </a:r>
            <a:r>
              <a:rPr lang="en-CA" sz="4000" b="1" u="sng" dirty="0"/>
              <a:t>feedback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787C93F-288C-8E0C-B55B-DECEE5540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745" y="2541319"/>
            <a:ext cx="4369130" cy="3951556"/>
          </a:xfrm>
        </p:spPr>
        <p:txBody>
          <a:bodyPr>
            <a:normAutofit lnSpcReduction="10000"/>
          </a:bodyPr>
          <a:lstStyle/>
          <a:p>
            <a:endParaRPr lang="en-CA" sz="2000" dirty="0"/>
          </a:p>
          <a:p>
            <a:r>
              <a:rPr lang="en-CA" sz="2000" b="1" dirty="0"/>
              <a:t>Strongly satisfied </a:t>
            </a:r>
            <a:r>
              <a:rPr lang="en-CA" sz="2000" dirty="0"/>
              <a:t>(</a:t>
            </a:r>
            <a:r>
              <a:rPr lang="en-CA" sz="2400" b="1" dirty="0">
                <a:solidFill>
                  <a:schemeClr val="accent6"/>
                </a:solidFill>
              </a:rPr>
              <a:t>63%)</a:t>
            </a:r>
          </a:p>
          <a:p>
            <a:pPr marL="0" indent="0">
              <a:buNone/>
            </a:pPr>
            <a:r>
              <a:rPr lang="en-CA" sz="2000" dirty="0"/>
              <a:t>      </a:t>
            </a:r>
            <a:r>
              <a:rPr lang="en-CA" b="1" dirty="0">
                <a:solidFill>
                  <a:schemeClr val="accent6"/>
                </a:solidFill>
              </a:rPr>
              <a:t>4.6 M in total</a:t>
            </a:r>
          </a:p>
          <a:p>
            <a:r>
              <a:rPr lang="en-CA" sz="2000" b="1" dirty="0"/>
              <a:t>Satisfied</a:t>
            </a:r>
            <a:r>
              <a:rPr lang="en-CA" sz="2000" dirty="0"/>
              <a:t> </a:t>
            </a:r>
            <a:r>
              <a:rPr lang="en-CA" sz="2400" b="1" dirty="0"/>
              <a:t>(</a:t>
            </a:r>
            <a:r>
              <a:rPr lang="en-CA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16,79%)</a:t>
            </a:r>
          </a:p>
          <a:p>
            <a:pPr marL="0" indent="0">
              <a:buNone/>
            </a:pPr>
            <a:r>
              <a:rPr lang="en-CA" b="1" dirty="0"/>
              <a:t>      </a:t>
            </a:r>
            <a:r>
              <a:rPr lang="en-CA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1.2 M in total</a:t>
            </a:r>
            <a:endParaRPr lang="en-CA" b="1" dirty="0">
              <a:solidFill>
                <a:schemeClr val="accent6"/>
              </a:solidFill>
            </a:endParaRPr>
          </a:p>
          <a:p>
            <a:r>
              <a:rPr lang="en-CA" sz="2000" b="1" dirty="0"/>
              <a:t>Dissatisfied </a:t>
            </a:r>
            <a:r>
              <a:rPr lang="en-CA" sz="2000" dirty="0"/>
              <a:t>(</a:t>
            </a:r>
            <a:r>
              <a:rPr lang="en-CA" sz="2000" dirty="0">
                <a:solidFill>
                  <a:srgbClr val="FFC000"/>
                </a:solidFill>
              </a:rPr>
              <a:t>18,15%</a:t>
            </a:r>
            <a:r>
              <a:rPr lang="en-CA" sz="2000" dirty="0"/>
              <a:t>)</a:t>
            </a:r>
          </a:p>
          <a:p>
            <a:pPr marL="0" indent="0">
              <a:buNone/>
            </a:pPr>
            <a:r>
              <a:rPr lang="en-CA" sz="2000" dirty="0">
                <a:solidFill>
                  <a:schemeClr val="accent6"/>
                </a:solidFill>
              </a:rPr>
              <a:t>      </a:t>
            </a:r>
            <a:r>
              <a:rPr lang="en-CA" b="1" dirty="0">
                <a:solidFill>
                  <a:srgbClr val="FFC000"/>
                </a:solidFill>
              </a:rPr>
              <a:t>1.3 M in total</a:t>
            </a:r>
          </a:p>
          <a:p>
            <a:r>
              <a:rPr lang="en-CA" sz="2000" b="1" dirty="0"/>
              <a:t>Strongly dissatisfied </a:t>
            </a:r>
            <a:r>
              <a:rPr lang="en-CA" sz="2400" b="1" dirty="0">
                <a:solidFill>
                  <a:srgbClr val="C00000"/>
                </a:solidFill>
              </a:rPr>
              <a:t>(1,62%)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      </a:t>
            </a:r>
            <a:r>
              <a:rPr lang="en-US" b="1" dirty="0">
                <a:solidFill>
                  <a:srgbClr val="C00000"/>
                </a:solidFill>
              </a:rPr>
              <a:t>117k in total</a:t>
            </a:r>
          </a:p>
        </p:txBody>
      </p:sp>
    </p:spTree>
    <p:extLst>
      <p:ext uri="{BB962C8B-B14F-4D97-AF65-F5344CB8AC3E}">
        <p14:creationId xmlns:p14="http://schemas.microsoft.com/office/powerpoint/2010/main" val="2392126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1AE73-2792-4CA1-8BFC-F3A8D3EA0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675138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1610</TotalTime>
  <Words>128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Roboto</vt:lpstr>
      <vt:lpstr>Times New Roman</vt:lpstr>
      <vt:lpstr>Office Theme</vt:lpstr>
      <vt:lpstr>Airport Authority Data Analysis</vt:lpstr>
      <vt:lpstr>Total number of flight</vt:lpstr>
      <vt:lpstr>Total of flight delays</vt:lpstr>
      <vt:lpstr>Ground Processing Time (GPT)</vt:lpstr>
      <vt:lpstr>Passenger feedback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Kassangoye</dc:creator>
  <cp:lastModifiedBy>Muluwerk Ayele Derebe</cp:lastModifiedBy>
  <cp:revision>8</cp:revision>
  <dcterms:created xsi:type="dcterms:W3CDTF">2026-02-26T17:00:13Z</dcterms:created>
  <dcterms:modified xsi:type="dcterms:W3CDTF">2026-03-02T01:48:01Z</dcterms:modified>
</cp:coreProperties>
</file>